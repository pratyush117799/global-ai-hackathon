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1"/>
  </p:notesMasterIdLst>
  <p:sldIdLst>
    <p:sldId id="256" r:id="rId2"/>
    <p:sldId id="257" r:id="rId3"/>
    <p:sldId id="259" r:id="rId4"/>
    <p:sldId id="267" r:id="rId5"/>
    <p:sldId id="260" r:id="rId6"/>
    <p:sldId id="261" r:id="rId7"/>
    <p:sldId id="262" r:id="rId8"/>
    <p:sldId id="263" r:id="rId9"/>
    <p:sldId id="266" r:id="rId10"/>
  </p:sldIdLst>
  <p:sldSz cx="9144000" cy="5143500" type="screen16x9"/>
  <p:notesSz cx="5143500" cy="9144000"/>
  <p:embeddedFontLs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Poppins Light" panose="00000400000000000000" pitchFamily="2" charset="0"/>
      <p:regular r:id="rId16"/>
      <p:italic r:id="rId17"/>
    </p:embeddedFont>
    <p:embeddedFont>
      <p:font typeface="Roboto Bold" panose="020B0604020202020204" charset="0"/>
      <p:regular r:id="rId18"/>
    </p:embeddedFont>
    <p:embeddedFont>
      <p:font typeface="Roboto Light" panose="02000000000000000000" pitchFamily="2" charset="0"/>
      <p:regular r:id="rId19"/>
      <p: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46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58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3564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420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941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3583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6559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742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904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270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994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612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757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31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3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070" y="259074"/>
            <a:ext cx="8151763" cy="105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Agrospheric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78070" y="905148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Multimodal Multi-Agent Pipeline for Precision Phytopathology &amp; Risk Mitigation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8070" y="1223457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6805" y="1364753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Multimodal Fusion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0534" y="1608026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Computer vision + environmental data, unified in a single pipeline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27323" y="1224362"/>
            <a:ext cx="2634630" cy="922660"/>
          </a:xfrm>
          <a:prstGeom prst="roundRect">
            <a:avLst>
              <a:gd name="adj" fmla="val 564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4072" y="1395324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Multi-Agent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4072" y="1635539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Deterministic LangGraph state machine with strict JSON contracts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0" y="1222179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41985" y="1378509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4" y="1648733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Hard safety gate, SHAP explainability, and native-language output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B6DFE8-311F-7C6D-1215-530AC4C6C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663" y="4845136"/>
            <a:ext cx="1867062" cy="2819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9736E3-1FE0-9F73-AA42-E61E20FFD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69" y="2221214"/>
            <a:ext cx="8026697" cy="28598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151" y="255250"/>
            <a:ext cx="8270395" cy="445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39151" y="974865"/>
            <a:ext cx="2586425" cy="38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Modality Gap: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271933" y="965586"/>
            <a:ext cx="67735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Vision apps detect disease after damage is visible; weather apps don't know crop health history. Predictions are reactive, not proactive.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39151" y="1671790"/>
            <a:ext cx="2510351" cy="27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Black-Box Dilemma :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031588" y="1617768"/>
            <a:ext cx="601393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"Your crop has Late Blight" with no evidence shown erodes farmer and agronomist trust.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239151" y="2213155"/>
            <a:ext cx="2510351" cy="35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Accessibility Barrier :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031588" y="2213154"/>
            <a:ext cx="5663793" cy="452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Technical PDF reports fail rural farmers facing language barriers and low literacy.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942E5A-B421-8E9D-74B7-FB2B48C87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020" y="4861536"/>
            <a:ext cx="1867062" cy="2819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B470EE-F2F1-F5AD-FAB4-6BCF509077F7}"/>
              </a:ext>
            </a:extLst>
          </p:cNvPr>
          <p:cNvSpPr txBox="1"/>
          <p:nvPr/>
        </p:nvSpPr>
        <p:spPr>
          <a:xfrm>
            <a:off x="287656" y="2809880"/>
            <a:ext cx="4607168" cy="52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FA1154D-479B-D272-9D1F-70A9E7E41780}"/>
              </a:ext>
            </a:extLst>
          </p:cNvPr>
          <p:cNvSpPr/>
          <p:nvPr/>
        </p:nvSpPr>
        <p:spPr>
          <a:xfrm>
            <a:off x="383106" y="3273523"/>
            <a:ext cx="10056894" cy="52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Fuse computer vision and environmental data through a deterministic multi-agent state graph — with a hard safety gate and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native-language output, not just another disease classifier.</a:t>
            </a:r>
            <a:endParaRPr lang="en-US" sz="11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CDB771F7-E1FB-69D2-2533-BCC807377B0F}"/>
              </a:ext>
            </a:extLst>
          </p:cNvPr>
          <p:cNvSpPr/>
          <p:nvPr/>
        </p:nvSpPr>
        <p:spPr>
          <a:xfrm>
            <a:off x="383106" y="3950981"/>
            <a:ext cx="8151763" cy="6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pipeline is designed from first principles to be proactive, explainable, and accessible — addressing all three problem-statement gaps simultaneously through a single, coherent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5156" y="107788"/>
            <a:ext cx="8151763" cy="55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4909" y="816222"/>
            <a:ext cx="3679329" cy="3892525"/>
          </a:xfrm>
          <a:prstGeom prst="roundRect">
            <a:avLst>
              <a:gd name="adj" fmla="val 2200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513421" y="974070"/>
            <a:ext cx="3454598" cy="56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Components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7731" y="1636274"/>
            <a:ext cx="252933" cy="252933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9640" y="1668591"/>
            <a:ext cx="1686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8936" y="1619087"/>
            <a:ext cx="3099792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Vision Node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9520" y="1897900"/>
            <a:ext cx="3099792" cy="421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Hugging Face ViT + attention-map extraction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3421" y="2305284"/>
            <a:ext cx="252933" cy="252933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241" y="2313812"/>
            <a:ext cx="1686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2327" y="2309677"/>
            <a:ext cx="3099792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Analytical Node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0208" y="2631844"/>
            <a:ext cx="3099792" cy="36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XGBoost classifier + SHAP explainability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587" y="3053188"/>
            <a:ext cx="252933" cy="252933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890" y="3074285"/>
            <a:ext cx="1686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2327" y="2970065"/>
            <a:ext cx="3099792" cy="361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Orchestration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27" y="3268708"/>
            <a:ext cx="3099792" cy="46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LangGraph multi-agent state machine + Groq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9640" y="3713206"/>
            <a:ext cx="3454598" cy="582364"/>
          </a:xfrm>
          <a:prstGeom prst="roundRect">
            <a:avLst>
              <a:gd name="adj" fmla="val 8108"/>
            </a:avLst>
          </a:prstGeom>
          <a:solidFill>
            <a:srgbClr val="E4E4E7"/>
          </a:solidFill>
          <a:ln/>
        </p:spPr>
      </p:sp>
      <p:sp>
        <p:nvSpPr>
          <p:cNvPr id="19" name="Text 16"/>
          <p:cNvSpPr/>
          <p:nvPr/>
        </p:nvSpPr>
        <p:spPr>
          <a:xfrm>
            <a:off x="653951" y="3770280"/>
            <a:ext cx="29770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Deterministic graph, strict JSON contracts between every node — not a fragile prompt chain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581" y="255649"/>
            <a:ext cx="3934531" cy="45451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033B0F4-35D9-7B76-3B3B-2B40CA9BD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020" y="4861536"/>
            <a:ext cx="1867062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ROI Localized Crop Diagnostics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630936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early, low-cost, trustworthy detection changes the economics of crop loss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2900" y="1062990"/>
            <a:ext cx="2811780" cy="2434590"/>
          </a:xfrm>
          <a:prstGeom prst="roundRect">
            <a:avLst>
              <a:gd name="adj" fmla="val 338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68730"/>
            <a:ext cx="267462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$220B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582930" y="2057400"/>
            <a:ext cx="2331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plant disease globally, every single year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82930" y="2503170"/>
            <a:ext cx="23317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 of global crop production affected annually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983230"/>
            <a:ext cx="2125980" cy="0"/>
          </a:xfrm>
          <a:prstGeom prst="line">
            <a:avLst/>
          </a:prstGeom>
          <a:noFill/>
          <a:ln w="9525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3086100"/>
            <a:ext cx="24688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FAO — Scientific Review on the Impact of Climate Change on Plant Pests</a:t>
            </a:r>
            <a:endParaRPr lang="en-US" sz="713" dirty="0"/>
          </a:p>
        </p:txBody>
      </p:sp>
      <p:sp>
        <p:nvSpPr>
          <p:cNvPr id="10" name="Text 8"/>
          <p:cNvSpPr/>
          <p:nvPr/>
        </p:nvSpPr>
        <p:spPr>
          <a:xfrm>
            <a:off x="3360420" y="1062990"/>
            <a:ext cx="5438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Speed per Diagnosis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60420" y="1405890"/>
            <a:ext cx="2273427" cy="1337310"/>
          </a:xfrm>
          <a:prstGeom prst="roundRect">
            <a:avLst>
              <a:gd name="adj" fmla="val 5128"/>
            </a:avLst>
          </a:prstGeom>
          <a:solidFill>
            <a:srgbClr val="F4F7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1870" y="1577340"/>
            <a:ext cx="377190" cy="377190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13" name="Text 11"/>
          <p:cNvSpPr/>
          <p:nvPr/>
        </p:nvSpPr>
        <p:spPr>
          <a:xfrm>
            <a:off x="3531870" y="157734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11930" y="1597914"/>
            <a:ext cx="14847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Agronomist Visit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531870" y="2057400"/>
            <a:ext cx="19305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$15–$50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531870" y="2468880"/>
            <a:ext cx="193052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2–5 day wait for results</a:t>
            </a:r>
            <a:endParaRPr lang="en-US" sz="863" dirty="0"/>
          </a:p>
        </p:txBody>
      </p:sp>
      <p:sp>
        <p:nvSpPr>
          <p:cNvPr id="17" name="Shape 15"/>
          <p:cNvSpPr/>
          <p:nvPr/>
        </p:nvSpPr>
        <p:spPr>
          <a:xfrm>
            <a:off x="5661279" y="1978533"/>
            <a:ext cx="219456" cy="192024"/>
          </a:xfrm>
          <a:prstGeom prst="rightArrow">
            <a:avLst/>
          </a:prstGeom>
          <a:solidFill>
            <a:srgbClr val="D4A017"/>
          </a:solidFill>
          <a:ln/>
        </p:spPr>
      </p:sp>
      <p:sp>
        <p:nvSpPr>
          <p:cNvPr id="18" name="Shape 16"/>
          <p:cNvSpPr/>
          <p:nvPr/>
        </p:nvSpPr>
        <p:spPr>
          <a:xfrm>
            <a:off x="5908167" y="1405890"/>
            <a:ext cx="2273427" cy="1337310"/>
          </a:xfrm>
          <a:prstGeom prst="roundRect">
            <a:avLst>
              <a:gd name="adj" fmla="val 5128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6079617" y="1577340"/>
            <a:ext cx="377190" cy="37719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6079617" y="157734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559677" y="1597914"/>
            <a:ext cx="14847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Agrospheric AI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079617" y="2057400"/>
            <a:ext cx="19305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$0.05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079617" y="2468880"/>
            <a:ext cx="193052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 under 60 seconds</a:t>
            </a:r>
            <a:endParaRPr lang="en-US" sz="863" dirty="0"/>
          </a:p>
        </p:txBody>
      </p:sp>
      <p:sp>
        <p:nvSpPr>
          <p:cNvPr id="24" name="Text 22"/>
          <p:cNvSpPr/>
          <p:nvPr/>
        </p:nvSpPr>
        <p:spPr>
          <a:xfrm>
            <a:off x="3360420" y="2846070"/>
            <a:ext cx="543839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 — open-weight models (ViT, XGBoost, NLLB, gTTS) self-hosted on commodity CPU/T4 hardware, no per-call proprietary API fees for inference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" y="3840480"/>
            <a:ext cx="8455914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" y="4046220"/>
            <a:ext cx="480060" cy="4800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" y="404622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5830" y="4046220"/>
            <a:ext cx="209854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languages localized — reaches farmers no English-only tool can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30118" y="4046220"/>
            <a:ext cx="480060" cy="4800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3230118" y="404622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813048" y="4046220"/>
            <a:ext cx="209854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layers (attention + SHAP) — trust, not a black box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17336" y="4046220"/>
            <a:ext cx="480060" cy="4800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6117336" y="4046220"/>
            <a:ext cx="4800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00266" y="4046220"/>
            <a:ext cx="209854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GPU fleet required to scale — runs on CPU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835" y="21133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Vision Node — Seeing the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8" y="862673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&amp; Method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609" y="1277927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9570" y="1207186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Vision Transformer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(vit-base-patch16-224 family), pretrained on crop disease imagery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8982" y="1215317"/>
            <a:ext cx="186035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2859" y="1169295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Attention rollout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extracts a heatmap showing exactly where the model looked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286" y="1773956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4384" y="1761529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Pretrained, not fine-tuned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 deliberate scope call under time constraints, revisited only if demo crops fell outside the label set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377680" y="2509348"/>
            <a:ext cx="3924598" cy="396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Heatmap Output :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4670913" y="1628806"/>
            <a:ext cx="3924598" cy="880542"/>
          </a:xfrm>
          <a:prstGeom prst="roundRect">
            <a:avLst>
              <a:gd name="adj" fmla="val 5917"/>
            </a:avLst>
          </a:prstGeom>
          <a:solidFill>
            <a:srgbClr val="022349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043" y="1761529"/>
            <a:ext cx="155004" cy="12397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07024" y="1686859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Attention rollout provides spatial interpretability — the farmer and agronomist can see exactly which leaf regions drove the classification decision.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B427FB-68A0-E50B-76FA-D6FBEC9F8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020" y="4861536"/>
            <a:ext cx="1867062" cy="281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A39329-7A87-94C4-8EC2-837E9A33D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38" y="2930889"/>
            <a:ext cx="4725721" cy="14513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86A132-82F3-12C2-3A38-C7F119DA4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7047" y="2906273"/>
            <a:ext cx="4148035" cy="1451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907" y="26727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Analytical Node — Quantifying Risk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951433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Risk Model Design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275" y="1349040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8662" y="1298563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XGBoost regressor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predicts 14-day disease-conducive risk from soil + weather data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71318"/>
            <a:ext cx="186035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6610" y="1900381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SHAP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attributes the prediction to specific stressors — humidity, rainfall, NPK levels, temperature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834" y="2698179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8661" y="2625952"/>
            <a:ext cx="352157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Trained as a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smooth, differentiable surrogate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a documented agronomic heuristic — not a black box, and retrainable on real field-trial data without changing the downstream contract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219402" y="87587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SHAP Explainability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99405" y="3964315"/>
            <a:ext cx="7977552" cy="692784"/>
          </a:xfrm>
          <a:prstGeom prst="roundRect">
            <a:avLst>
              <a:gd name="adj" fmla="val 5917"/>
            </a:avLst>
          </a:prstGeom>
          <a:solidFill>
            <a:srgbClr val="022349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75" y="4090214"/>
            <a:ext cx="274216" cy="2193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9291" y="4106893"/>
            <a:ext cx="759244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SHAP values make every risk prediction auditable — agronomists can verify which environmental stressors are driving the 14-day forecast.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DBFE4E-980B-3BEB-3A29-FDCE541FA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020" y="4861536"/>
            <a:ext cx="1867062" cy="281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B0939C-ACCB-578D-7E92-7167C54D0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8641" y="1318794"/>
            <a:ext cx="4839652" cy="2267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144" y="40168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Human-in-the-Loop Safety Gate (HITL)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1831" y="965410"/>
            <a:ext cx="8608963" cy="49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responsible-AI design decision, not just a feature — the confidence threshold is a hard architectural constraint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that governs all downstream 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3262" y="1554327"/>
            <a:ext cx="3823171" cy="2518269"/>
          </a:xfrm>
          <a:prstGeom prst="roundRect">
            <a:avLst>
              <a:gd name="adj" fmla="val 5647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4854" y="1706904"/>
            <a:ext cx="38231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≥ 75% Confidence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3" y="1915040"/>
            <a:ext cx="38231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Autonomous pipeline proceeds — environmental risk scoring, SHAP attribution, and localized output are generated without interruption.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5248" y="2585994"/>
            <a:ext cx="38231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&lt; 75% Confidence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7870" y="2828496"/>
            <a:ext cx="3823171" cy="983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System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halts autonomous action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routes to human agronomist review — regardless of what the environmental risk score says.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95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95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Both the confident and ambiguous paths still produce a translated, localized explanation —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farmer is never left with silence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33758" y="4708788"/>
            <a:ext cx="384579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(PDF report of the crop leaf  generated by the multi-agent system)</a:t>
            </a:r>
            <a:endParaRPr lang="en-US" sz="950" b="1" i="1" dirty="0"/>
          </a:p>
        </p:txBody>
      </p:sp>
      <p:sp>
        <p:nvSpPr>
          <p:cNvPr id="15" name="Text 11"/>
          <p:cNvSpPr/>
          <p:nvPr/>
        </p:nvSpPr>
        <p:spPr>
          <a:xfrm>
            <a:off x="4732884" y="2575589"/>
            <a:ext cx="384586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8C2B10-75FF-37E8-540D-CCC2DE5E8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938" y="4861536"/>
            <a:ext cx="1867062" cy="2819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CE54DB-A103-B067-9FC9-7B86AE2BD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040" y="1263457"/>
            <a:ext cx="4458639" cy="38179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962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Localization &amp; Accessibility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383209"/>
            <a:ext cx="3257699" cy="2950592"/>
          </a:xfrm>
          <a:prstGeom prst="roundRect">
            <a:avLst>
              <a:gd name="adj" fmla="val 3027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507182"/>
            <a:ext cx="30097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Language Coverage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825005"/>
            <a:ext cx="3009751" cy="7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11 Indian languages + English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Hindi, Marathi, Tamil, Telugu, Bengali, Gujarati, Kannada, Punjabi, Malayalam, Odia, Urdu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796" y="2702496"/>
            <a:ext cx="3009751" cy="14288"/>
          </a:xfrm>
          <a:prstGeom prst="roundRect">
            <a:avLst>
              <a:gd name="adj" fmla="val 59998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2887266"/>
            <a:ext cx="30097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796" y="3205088"/>
            <a:ext cx="3009751" cy="1017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NLLB-200-distilled-600M</a:t>
            </a:r>
            <a:r>
              <a:rPr lang="en-US" sz="9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translation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gTTS</a:t>
            </a:r>
            <a:r>
              <a:rPr lang="en-US" sz="9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spoken audio output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Runs on CPU or a shared T4 GPU — no expensive proprietary APIs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82554" y="1507182"/>
            <a:ext cx="4770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Graceful Degradation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2554" y="1840557"/>
            <a:ext cx="2322984" cy="15866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77965" y="1978819"/>
            <a:ext cx="19893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Text Always Delivered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77965" y="2296641"/>
            <a:ext cx="1989311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Odia is translatable but not speakable by gTTS — text still reaches the farmer, audio is cleanly omitted with a documented reason, not a crash.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511" y="1840557"/>
            <a:ext cx="2323058" cy="15866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24923" y="1978819"/>
            <a:ext cx="19893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Silent Failures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24923" y="2296641"/>
            <a:ext cx="198938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degradation path is documented and handled explicitly — the system communicates its limitations rather than failing opaquely.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42555F-424E-5F15-A218-412A0B33E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020" y="4861536"/>
            <a:ext cx="1867062" cy="2819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D8F276-C530-0395-4B77-E84C97D15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8495" y="3629091"/>
            <a:ext cx="5174632" cy="1044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7" y="209368"/>
            <a:ext cx="8151763" cy="901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Team</a:t>
            </a:r>
            <a:endParaRPr lang="en-US" sz="5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100" y="1156790"/>
            <a:ext cx="8151763" cy="13881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78982" y="227707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6117" y="1228946"/>
            <a:ext cx="787524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Pratyush Sharma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1361" y="1627117"/>
            <a:ext cx="7875240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14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Agentic AI Engineer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AI, ML and agentic AI enthusiast who loves to code and create AI projects in free time.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B937B8-194E-9AE9-CA3B-10E587591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020" y="4861536"/>
            <a:ext cx="1867062" cy="2819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</TotalTime>
  <Words>787</Words>
  <Application>Microsoft Office PowerPoint</Application>
  <PresentationFormat>On-screen Show (16:9)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 Light</vt:lpstr>
      <vt:lpstr>Roboto Light</vt:lpstr>
      <vt:lpstr>Roboto Bold</vt:lpstr>
      <vt:lpstr>Cambria</vt:lpstr>
      <vt:lpstr>Arial</vt:lpstr>
      <vt:lpstr>Poppins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Pratyush</dc:creator>
  <cp:lastModifiedBy>prtysg shwema</cp:lastModifiedBy>
  <cp:revision>2</cp:revision>
  <dcterms:created xsi:type="dcterms:W3CDTF">2026-07-19T09:25:31Z</dcterms:created>
  <dcterms:modified xsi:type="dcterms:W3CDTF">2026-07-19T06:30:28Z</dcterms:modified>
</cp:coreProperties>
</file>